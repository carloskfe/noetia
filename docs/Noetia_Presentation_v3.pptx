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9832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Noetia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3200" b="1">
                <a:solidFill>
                  <a:srgbClr val="FFFFFF"/>
                </a:solidFill>
              </a:rPr>
              <a:t>Read. Listen. Capture. Share.</a:t>
            </a:r>
          </a:p>
          <a:p>
            <a:r>
              <a:rPr lang="en-US" dirty="0" sz="3200" b="1">
                <a:solidFill>
                  <a:srgbClr val="FFFFFF"/>
                </a:solidFill>
              </a:rPr>
              <a:t>Multilingual reading platform — Spanish &amp;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600" b="1">
                <a:solidFill>
                  <a:srgbClr val="FFFFFF"/>
                </a:solidFill>
              </a:rPr>
              <a:t>Noetia is not just a reading app.</a:t>
            </a:r>
          </a:p>
          <a:p>
            <a:r>
              <a:rPr lang="en-US" dirty="0" sz="2600" b="1">
                <a:solidFill>
                  <a:srgbClr val="FFFFFF"/>
                </a:solidFill>
              </a:rPr>
              <a:t>It is a platform where readers listen and read simultaneously,</a:t>
            </a:r>
          </a:p>
          <a:p>
            <a:r>
              <a:rPr lang="en-US" dirty="0" sz="2600" b="1">
                <a:solidFill>
                  <a:srgbClr val="FFFFFF"/>
                </a:solidFill>
              </a:rPr>
              <a:t>save fragments, generate visual quote cards, share to social</a:t>
            </a:r>
          </a:p>
          <a:p>
            <a:r>
              <a:rPr lang="en-US" dirty="0" sz="2600" b="1">
                <a:solidFill>
                  <a:srgbClr val="FFFFFF"/>
                </a:solidFill>
              </a:rPr>
              <a:t>networks, and read together in real-time clubs — in any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400">
                <a:solidFill>
                  <a:srgbClr val="FFFFFF"/>
                </a:solidFill>
              </a:rPr>
              <a:t>Global audiobook market: $35.47B by 2030  (CAGR 26.2% — Grand View Research 2024)</a:t>
            </a:r>
          </a:p>
          <a:p>
            <a:r>
              <a:rPr lang="en-US" dirty="0" sz="2400">
                <a:solidFill>
                  <a:srgbClr val="FFFFFF"/>
                </a:solidFill>
              </a:rPr>
              <a:t>500M+ native Spanish speakers — launch market</a:t>
            </a:r>
          </a:p>
          <a:p>
            <a:r>
              <a:rPr lang="en-US" dirty="0" sz="2400">
                <a:solidFill>
                  <a:srgbClr val="FFFFFF"/>
                </a:solidFill>
              </a:rPr>
              <a:t>1.5B+ English speakers — Year 2 expansion</a:t>
            </a:r>
          </a:p>
          <a:p>
            <a:r>
              <a:rPr lang="en-US" dirty="0" sz="2400">
                <a:solidFill>
                  <a:srgbClr val="FFFFFF"/>
                </a:solidFill>
              </a:rPr>
              <a:t>Spanish-language audiobooks grew 45.7% in 2023  (Bookwire 2024)</a:t>
            </a:r>
          </a:p>
          <a:p>
            <a:r>
              <a:rPr lang="en-US" dirty="0" sz="2400">
                <a:solidFill>
                  <a:srgbClr val="FFFFFF"/>
                </a:solidFill>
              </a:rPr>
              <a:t>47M+ US audiobook listeners  (Audio Publishers Association 2024)</a:t>
            </a:r>
          </a:p>
          <a:p>
            <a:r>
              <a:rPr lang="en-US" dirty="0" sz="2400">
                <a:solidFill>
                  <a:srgbClr val="FFFFFF"/>
                </a:solidFill>
              </a:rPr>
              <a:t>8-12M paying digital readers in Latin America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600">
                <a:solidFill>
                  <a:srgbClr val="FFFFFF"/>
                </a:solidFill>
              </a:rPr>
              <a:t>Text and audio exist on separate apps — broken continuity</a:t>
            </a:r>
          </a:p>
          <a:p>
            <a:r>
              <a:rPr lang="en-US" dirty="0" sz="2600">
                <a:solidFill>
                  <a:srgbClr val="FFFFFF"/>
                </a:solidFill>
              </a:rPr>
              <a:t>Existing platforms do not help readers retain or share insights</a:t>
            </a:r>
          </a:p>
          <a:p>
            <a:r>
              <a:rPr lang="en-US" dirty="0" sz="2600">
                <a:solidFill>
                  <a:srgbClr val="FFFFFF"/>
                </a:solidFill>
              </a:rPr>
              <a:t>Reading is treated as a solitary, passive activity</a:t>
            </a:r>
          </a:p>
          <a:p>
            <a:r>
              <a:rPr lang="en-US" dirty="0" sz="2600">
                <a:solidFill>
                  <a:srgbClr val="FFFFFF"/>
                </a:solidFill>
              </a:rPr>
              <a:t>Spanish catalog on global platforms is thin and culturally poor</a:t>
            </a:r>
          </a:p>
          <a:p>
            <a:r>
              <a:rPr lang="en-US" dirty="0" sz="2600">
                <a:solidFill>
                  <a:srgbClr val="FFFFFF"/>
                </a:solidFill>
              </a:rPr>
              <a:t>No phrase-level synchronization exists in any platform today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600">
                <a:solidFill>
                  <a:srgbClr val="FFFFFF"/>
                </a:solidFill>
              </a:rPr>
              <a:t>Phrase-by-phrase text + audio synchronization in any language</a:t>
            </a:r>
          </a:p>
          <a:p>
            <a:r>
              <a:rPr lang="en-US" dirty="0" sz="2600">
                <a:solidFill>
                  <a:srgbClr val="FFFFFF"/>
                </a:solidFill>
              </a:rPr>
              <a:t>Fragment capture -&gt; visual quote cards -&gt; 4 social platforms</a:t>
            </a:r>
          </a:p>
          <a:p>
            <a:r>
              <a:rPr lang="en-US" dirty="0" sz="2600">
                <a:solidFill>
                  <a:srgbClr val="FFFFFF"/>
                </a:solidFill>
              </a:rPr>
              <a:t>Noetia Clubs — phrase-anchored discussions + live listening sessions</a:t>
            </a:r>
          </a:p>
          <a:p>
            <a:r>
              <a:rPr lang="en-US" dirty="0" sz="2600">
                <a:solidFill>
                  <a:srgbClr val="FFFFFF"/>
                </a:solidFill>
              </a:rPr>
              <a:t>Reading stats, streaks, and weekly goals (Duolingo habit loop)</a:t>
            </a:r>
          </a:p>
          <a:p>
            <a:r>
              <a:rPr lang="en-US" dirty="0" sz="2600">
                <a:solidFill>
                  <a:srgbClr val="FFFFFF"/>
                </a:solidFill>
              </a:rPr>
              <a:t>Causes Noetia — 2.22% of every payment to vetted social causes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Core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400">
                <a:solidFill>
                  <a:srgbClr val="FFFFFF"/>
                </a:solidFill>
              </a:rPr>
              <a:t>Read mode / Audio mode / Active Listening mode</a:t>
            </a:r>
          </a:p>
          <a:p>
            <a:r>
              <a:rPr lang="en-US" dirty="0" sz="2400">
                <a:solidFill>
                  <a:srgbClr val="FFFFFF"/>
                </a:solidFill>
              </a:rPr>
              <a:t>Long-press any phrase to save a fragment</a:t>
            </a:r>
          </a:p>
          <a:p>
            <a:r>
              <a:rPr lang="en-US" dirty="0" sz="2400">
                <a:solidFill>
                  <a:srgbClr val="FFFFFF"/>
                </a:solidFill>
              </a:rPr>
              <a:t>Generate quote cards for LinkedIn, Instagram, Facebook, Pinterest</a:t>
            </a:r>
          </a:p>
          <a:p>
            <a:r>
              <a:rPr lang="en-US" dirty="0" sz="2400">
                <a:solidFill>
                  <a:srgbClr val="FFFFFF"/>
                </a:solidFill>
              </a:rPr>
              <a:t>Join or create reading clubs — discuss phrase by phrase</a:t>
            </a:r>
          </a:p>
          <a:p>
            <a:r>
              <a:rPr lang="en-US" dirty="0" sz="2400">
                <a:solidFill>
                  <a:srgbClr val="FFFFFF"/>
                </a:solidFill>
              </a:rPr>
              <a:t>Track 7-day streak, reading minutes, and weekly goals</a:t>
            </a:r>
          </a:p>
          <a:p>
            <a:r>
              <a:rPr lang="en-US" dirty="0" sz="2400">
                <a:solidFill>
                  <a:srgbClr val="FFFFFF"/>
                </a:solidFill>
              </a:rPr>
              <a:t>Offline download — read anywhere without internet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Differentiation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400">
                <a:solidFill>
                  <a:srgbClr val="FFFFFF"/>
                </a:solidFill>
              </a:rPr>
              <a:t>Phrase-sync technology — deep moat, no competitor does this for full books</a:t>
            </a:r>
          </a:p>
          <a:p>
            <a:r>
              <a:rPr lang="en-US" dirty="0" sz="2400">
                <a:solidFill>
                  <a:srgbClr val="FFFFFF"/>
                </a:solidFill>
              </a:rPr>
              <a:t>Language-agnostic architecture — Spanish launch, English Year 2, multilingual roadmap</a:t>
            </a:r>
          </a:p>
          <a:p>
            <a:r>
              <a:rPr lang="en-US" dirty="0" sz="2400">
                <a:solidFill>
                  <a:srgbClr val="FFFFFF"/>
                </a:solidFill>
              </a:rPr>
              <a:t>Social layer built-in: clubs, sharing, phrase-anchored discussions</a:t>
            </a:r>
          </a:p>
          <a:p>
            <a:r>
              <a:rPr lang="en-US" dirty="0" sz="2400">
                <a:solidFill>
                  <a:srgbClr val="FFFFFF"/>
                </a:solidFill>
              </a:rPr>
              <a:t>Causes Noetia — emotional stickiness through social impact on every payment</a:t>
            </a:r>
          </a:p>
          <a:p>
            <a:r>
              <a:rPr lang="en-US" dirty="0" sz="2400">
                <a:solidFill>
                  <a:srgbClr val="FFFFFF"/>
                </a:solidFill>
              </a:rPr>
              <a:t>Visual quote card virality loop — readers become organic marketers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400">
                <a:solidFill>
                  <a:srgbClr val="FFFFFF"/>
                </a:solidFill>
              </a:rPr>
              <a:t>Spanish-speaking audiences (Year 1): Latin America, Spain, US Hispanic</a:t>
            </a:r>
          </a:p>
          <a:p>
            <a:r>
              <a:rPr lang="en-US" dirty="0" sz="2400">
                <a:solidFill>
                  <a:srgbClr val="FFFFFF"/>
                </a:solidFill>
              </a:rPr>
              <a:t>English-speaking audiences (Year 2): US, UK, Canada, Australia</a:t>
            </a:r>
          </a:p>
          <a:p>
            <a:r>
              <a:rPr lang="en-US" dirty="0" sz="2400">
                <a:solidFill>
                  <a:srgbClr val="FFFFFF"/>
                </a:solidFill>
              </a:rPr>
              <a:t>18-45  readers active on TikTok, Instagram, LinkedIn</a:t>
            </a:r>
          </a:p>
          <a:p>
            <a:r>
              <a:rPr lang="en-US" dirty="0" sz="2400">
                <a:solidFill>
                  <a:srgbClr val="FFFFFF"/>
                </a:solidFill>
              </a:rPr>
              <a:t>Self-development, nonfiction, and literary fiction readers</a:t>
            </a:r>
          </a:p>
          <a:p>
            <a:r>
              <a:rPr lang="en-US" dirty="0" sz="2400">
                <a:solidFill>
                  <a:srgbClr val="FFFFFF"/>
                </a:solidFill>
              </a:rPr>
              <a:t>Users willing to pay for a premium, immersive reading experience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200">
                <a:solidFill>
                  <a:srgbClr val="FFFFFF"/>
                </a:solidFill>
              </a:rPr>
              <a:t>Subscriptions: Individual $8.99 / Duo $13.99 / Family $18.99 per month</a:t>
            </a:r>
          </a:p>
          <a:p>
            <a:r>
              <a:rPr lang="en-US" dirty="0" sz="2200">
                <a:solidFill>
                  <a:srgbClr val="FFFFFF"/>
                </a:solidFill>
              </a:rPr>
              <a:t>Token system: 1 token = 1 paid book  (packages: 1/3/5/10 tokens)</a:t>
            </a:r>
          </a:p>
          <a:p>
            <a:r>
              <a:rPr lang="en-US" dirty="0" sz="2200">
                <a:solidFill>
                  <a:srgbClr val="FFFFFF"/>
                </a:solidFill>
              </a:rPr>
              <a:t>Gift cards: token gifts with personal message, sent by email</a:t>
            </a:r>
          </a:p>
          <a:p>
            <a:r>
              <a:rPr lang="en-US" dirty="0" sz="2200">
                <a:solidFill>
                  <a:srgbClr val="FFFFFF"/>
                </a:solidFill>
              </a:rPr>
              <a:t>Author hosting fees: tiered plans (Basic/Starter/Pro) — Year 2</a:t>
            </a:r>
          </a:p>
          <a:p>
            <a:r>
              <a:rPr lang="en-US" dirty="0" sz="2200">
                <a:solidFill>
                  <a:srgbClr val="FFFFFF"/>
                </a:solidFill>
              </a:rPr>
              <a:t>Revenue split: 45% Noetia / 36-45% Author+Narrator / 2.22% Causes</a:t>
            </a:r>
          </a:p>
          <a:p>
            <a:r>
              <a:rPr lang="en-US" dirty="0" sz="2200">
                <a:solidFill>
                  <a:srgbClr val="FFFFFF"/>
                </a:solidFill>
              </a:rPr>
              <a:t>LTV: $179  /  Blended CAC: $15-25  /  LTV:CAC ratio: 7:1 - 12:1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Content &amp; Licensing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200">
                <a:solidFill>
                  <a:srgbClr val="FFFFFF"/>
                </a:solidFill>
              </a:rPr>
              <a:t>Public domain (38+ Spanish titles): Gutenberg + LibriVox CC0 — zero cost</a:t>
            </a:r>
          </a:p>
          <a:p>
            <a:r>
              <a:rPr lang="en-US" dirty="0" sz="2200">
                <a:solidFill>
                  <a:srgbClr val="FFFFFF"/>
                </a:solidFill>
              </a:rPr>
              <a:t>English public-domain catalog in active development for Q3 2026</a:t>
            </a:r>
          </a:p>
          <a:p>
            <a:r>
              <a:rPr lang="en-US" dirty="0" sz="2200">
                <a:solidFill>
                  <a:srgbClr val="FFFFFF"/>
                </a:solidFill>
              </a:rPr>
              <a:t>Author-direct model: non-exclusive license, 45% royalty, 30-day withdrawal</a:t>
            </a:r>
          </a:p>
          <a:p>
            <a:r>
              <a:rPr lang="en-US" dirty="0" sz="2200">
                <a:solidFill>
                  <a:srgbClr val="FFFFFF"/>
                </a:solidFill>
              </a:rPr>
              <a:t>Publisher pipeline: active outreach, first deals targeted Q4 2026</a:t>
            </a:r>
          </a:p>
          <a:p>
            <a:r>
              <a:rPr lang="en-US" dirty="0" sz="2200">
                <a:solidFill>
                  <a:srgbClr val="FFFFFF"/>
                </a:solidFill>
              </a:rPr>
              <a:t>DRM: soft DRM (account binding + AES-256 encryption + signed URLs)</a:t>
            </a:r>
          </a:p>
          <a:p>
            <a:r>
              <a:rPr lang="en-US" dirty="0" sz="2200">
                <a:solidFill>
                  <a:srgbClr val="FFFFFF"/>
                </a:solidFill>
              </a:rPr>
              <a:t>Territory: worldwide by default; per-territory negotiation for publisher deals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Platform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200">
                <a:solidFill>
                  <a:srgbClr val="FFFFFF"/>
                </a:solidFill>
              </a:rPr>
              <a:t>Beta live at noetia.app — May 2026</a:t>
            </a:r>
          </a:p>
          <a:p>
            <a:r>
              <a:rPr lang="en-US" dirty="0" sz="2200">
                <a:solidFill>
                  <a:srgbClr val="FFFFFF"/>
                </a:solidFill>
              </a:rPr>
              <a:t>55 database migrations — zero external contractors</a:t>
            </a:r>
          </a:p>
          <a:p>
            <a:r>
              <a:rPr lang="en-US" dirty="0" sz="2200">
                <a:solidFill>
                  <a:srgbClr val="FFFFFF"/>
                </a:solidFill>
              </a:rPr>
              <a:t>Shipped: reader, clubs, sharing, stats, goals, privacy, i18n (EN+ES)</a:t>
            </a:r>
          </a:p>
          <a:p>
            <a:r>
              <a:rPr lang="en-US" dirty="0" sz="2200">
                <a:solidFill>
                  <a:srgbClr val="FFFFFF"/>
                </a:solidFill>
              </a:rPr>
              <a:t>App Store + Google Play submission in progress (Q3 2026)</a:t>
            </a:r>
          </a:p>
          <a:p>
            <a:r>
              <a:rPr lang="en-US" dirty="0" sz="2200">
                <a:solidFill>
                  <a:srgbClr val="FFFFFF"/>
                </a:solidFill>
              </a:rPr>
              <a:t>Infrastructure: &lt;$50/mo fixed cost / 99.9% uptime history</a:t>
            </a:r>
          </a:p>
          <a:p>
            <a:r>
              <a:rPr lang="en-US" dirty="0" sz="2200">
                <a:solidFill>
                  <a:srgbClr val="FFFFFF"/>
                </a:solidFill>
              </a:rPr>
              <a:t>Waitlist collecting — first 500 beta users being onboarded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2200">
                <a:solidFill>
                  <a:srgbClr val="FFFFFF"/>
                </a:solidFill>
              </a:rPr>
              <a:t>Phase 1 (May-Aug 2026): 500 beta users / waitlist / author invite codes</a:t>
            </a:r>
          </a:p>
          <a:p>
            <a:r>
              <a:rPr lang="en-US" dirty="0" sz="2200">
                <a:solidFill>
                  <a:srgbClr val="FFFFFF"/>
                </a:solidFill>
              </a:rPr>
              <a:t>Phase 2 (Sep 2026-Feb 2027): App Store / English catalog / author partnerships</a:t>
            </a:r>
          </a:p>
          <a:p>
            <a:r>
              <a:rPr lang="en-US" dirty="0" sz="2200">
                <a:solidFill>
                  <a:srgbClr val="FFFFFF"/>
                </a:solidFill>
              </a:rPr>
              <a:t>Phase 3 (Mar 2027+): Publisher deals / podcast sponsorships / B2B</a:t>
            </a:r>
          </a:p>
          <a:p>
            <a:r>
              <a:rPr lang="en-US" dirty="0" sz="2200">
                <a:solidFill>
                  <a:srgbClr val="FFFFFF"/>
                </a:solidFill>
              </a:rPr>
              <a:t>Viral loop: Noetia share cards on TikTok/Instagram drive organic acquisition</a:t>
            </a:r>
          </a:p>
          <a:p>
            <a:r>
              <a:rPr lang="en-US" dirty="0" sz="2200">
                <a:solidFill>
                  <a:srgbClr val="FFFFFF"/>
                </a:solidFill>
              </a:rPr>
              <a:t>Referral program: invite 3 friends -&gt; earn 1 free token</a:t>
            </a:r>
          </a:p>
          <a:p>
            <a:r>
              <a:rPr lang="en-US" dirty="0" sz="2200">
                <a:solidFill>
                  <a:srgbClr val="FFFFFF"/>
                </a:solidFill>
              </a:rPr>
              <a:t>Author audiences: 50 authors by Year 1 end, each brings their own readers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z="4000" b="1">
                <a:solidFill>
                  <a:srgbClr val="FFFFFF"/>
                </a:solidFill>
              </a:rP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z="3200" b="1">
                <a:solidFill>
                  <a:srgbClr val="FFFFFF"/>
                </a:solidFill>
              </a:rPr>
              <a:t>Noetia — Read. Listen. Capture. Share.</a:t>
            </a:r>
          </a:p>
          <a:p>
            <a:r>
              <a:rPr lang="en-US" dirty="0" sz="3200" b="1">
                <a:solidFill>
                  <a:srgbClr val="FFFFFF"/>
                </a:solidFill>
              </a:rPr>
              <a:t/>
            </a:r>
          </a:p>
          <a:p>
            <a:r>
              <a:rPr lang="en-US" dirty="0" sz="3200" b="1">
                <a:solidFill>
                  <a:srgbClr val="FFFFFF"/>
                </a:solidFill>
              </a:rPr>
              <a:t>noetia.app  |  noreply@noetia.app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223</Words>
  <Application>Microsoft Office PowerPoint</Application>
  <PresentationFormat>On-screen Show (4:3)</PresentationFormat>
  <Paragraphs>56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Noetia</vt:lpstr>
      <vt:lpstr>Core Idea</vt:lpstr>
      <vt:lpstr>Vision</vt:lpstr>
      <vt:lpstr>The Problem</vt:lpstr>
      <vt:lpstr>The Solution</vt:lpstr>
      <vt:lpstr>Core Experience</vt:lpstr>
      <vt:lpstr>Differentiation</vt:lpstr>
      <vt:lpstr>Target Market</vt:lpstr>
      <vt:lpstr>Business Model</vt:lpstr>
      <vt:lpstr>MVP Status</vt:lpstr>
      <vt:lpstr>Key Metrics</vt:lpstr>
      <vt:lpstr>Growth Strategy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Carlos Fernando Ramírez Saavedra</cp:lastModifiedBy>
  <cp:revision>2</cp:revision>
  <dcterms:created xsi:type="dcterms:W3CDTF">2013-01-27T09:14:16Z</dcterms:created>
  <dcterms:modified xsi:type="dcterms:W3CDTF">2026-05-01T16:33:16Z</dcterms:modified>
  <cp:category/>
</cp:coreProperties>
</file>